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6" r:id="rId6"/>
    <p:sldId id="294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ahporag810@gmail.com" userId="641a88f3da8f5465" providerId="LiveId" clId="{1807BFFB-CCA2-4625-A7C4-F183177457DE}"/>
    <pc:docChg chg="undo custSel modSld">
      <pc:chgData name="borahporag810@gmail.com" userId="641a88f3da8f5465" providerId="LiveId" clId="{1807BFFB-CCA2-4625-A7C4-F183177457DE}" dt="2026-08-31T07:23:10.679" v="350" actId="113"/>
      <pc:docMkLst>
        <pc:docMk/>
      </pc:docMkLst>
      <pc:sldChg chg="modSp mod">
        <pc:chgData name="borahporag810@gmail.com" userId="641a88f3da8f5465" providerId="LiveId" clId="{1807BFFB-CCA2-4625-A7C4-F183177457DE}" dt="2026-08-31T07:23:10.679" v="350" actId="113"/>
        <pc:sldMkLst>
          <pc:docMk/>
          <pc:sldMk cId="0" sldId="281"/>
        </pc:sldMkLst>
        <pc:spChg chg="mod">
          <ac:chgData name="borahporag810@gmail.com" userId="641a88f3da8f5465" providerId="LiveId" clId="{1807BFFB-CCA2-4625-A7C4-F183177457DE}" dt="2026-08-31T07:23:10.679" v="350" actId="113"/>
          <ac:spMkLst>
            <pc:docMk/>
            <pc:sldMk cId="0" sldId="281"/>
            <ac:spMk id="2" creationId="{77713E94-AA0D-54E6-54AB-B9E5B0A0F09A}"/>
          </ac:spMkLst>
        </pc:spChg>
      </pc:sldChg>
      <pc:sldChg chg="delSp modSp mod">
        <pc:chgData name="borahporag810@gmail.com" userId="641a88f3da8f5465" providerId="LiveId" clId="{1807BFFB-CCA2-4625-A7C4-F183177457DE}" dt="2026-08-31T05:42:36.136" v="25" actId="21"/>
        <pc:sldMkLst>
          <pc:docMk/>
          <pc:sldMk cId="0" sldId="290"/>
        </pc:sldMkLst>
        <pc:spChg chg="del">
          <ac:chgData name="borahporag810@gmail.com" userId="641a88f3da8f5465" providerId="LiveId" clId="{1807BFFB-CCA2-4625-A7C4-F183177457DE}" dt="2026-08-31T05:42:36.136" v="25" actId="21"/>
          <ac:spMkLst>
            <pc:docMk/>
            <pc:sldMk cId="0" sldId="290"/>
            <ac:spMk id="4" creationId="{DB6B23CC-5FC8-D968-D511-8C842498BFF0}"/>
          </ac:spMkLst>
        </pc:spChg>
        <pc:spChg chg="mod">
          <ac:chgData name="borahporag810@gmail.com" userId="641a88f3da8f5465" providerId="LiveId" clId="{1807BFFB-CCA2-4625-A7C4-F183177457DE}" dt="2026-08-30T18:14:59.672" v="1" actId="20577"/>
          <ac:spMkLst>
            <pc:docMk/>
            <pc:sldMk cId="0" sldId="290"/>
            <ac:spMk id="5" creationId="{77A92689-005C-0780-1428-D9D468B5EF68}"/>
          </ac:spMkLst>
        </pc:spChg>
      </pc:sldChg>
      <pc:sldChg chg="modSp mod">
        <pc:chgData name="borahporag810@gmail.com" userId="641a88f3da8f5465" providerId="LiveId" clId="{1807BFFB-CCA2-4625-A7C4-F183177457DE}" dt="2026-08-30T18:21:53.866" v="5" actId="207"/>
        <pc:sldMkLst>
          <pc:docMk/>
          <pc:sldMk cId="3753387913" sldId="293"/>
        </pc:sldMkLst>
        <pc:spChg chg="mod">
          <ac:chgData name="borahporag810@gmail.com" userId="641a88f3da8f5465" providerId="LiveId" clId="{1807BFFB-CCA2-4625-A7C4-F183177457DE}" dt="2026-08-30T18:21:53.866" v="5" actId="207"/>
          <ac:spMkLst>
            <pc:docMk/>
            <pc:sldMk cId="3753387913" sldId="293"/>
            <ac:spMk id="12" creationId="{5DBCE864-823D-4A13-9607-5DA1F0ED5FB8}"/>
          </ac:spMkLst>
        </pc:spChg>
      </pc:sldChg>
      <pc:sldChg chg="delSp modSp mod">
        <pc:chgData name="borahporag810@gmail.com" userId="641a88f3da8f5465" providerId="LiveId" clId="{1807BFFB-CCA2-4625-A7C4-F183177457DE}" dt="2026-08-31T05:42:14.057" v="24" actId="21"/>
        <pc:sldMkLst>
          <pc:docMk/>
          <pc:sldMk cId="2997144140" sldId="294"/>
        </pc:sldMkLst>
        <pc:spChg chg="del mod">
          <ac:chgData name="borahporag810@gmail.com" userId="641a88f3da8f5465" providerId="LiveId" clId="{1807BFFB-CCA2-4625-A7C4-F183177457DE}" dt="2026-08-31T05:42:14.057" v="24" actId="21"/>
          <ac:spMkLst>
            <pc:docMk/>
            <pc:sldMk cId="2997144140" sldId="294"/>
            <ac:spMk id="5" creationId="{3EF62028-B6B4-F8F2-2AA1-1BCF0E0466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04801"/>
            <a:ext cx="8534400" cy="218276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" y="1782456"/>
            <a:ext cx="6482276" cy="52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SIH25008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Disaster Preparedness and Response Education system for Schools and Colleges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Disaster Management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SITM/SIH 2026-08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Visionary tech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79458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RAKSHA-NET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13E94-AA0D-54E6-54AB-B9E5B0A0F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82521"/>
            <a:ext cx="6213989" cy="3153273"/>
          </a:xfrm>
        </p:spPr>
        <p:txBody>
          <a:bodyPr/>
          <a:lstStyle/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Multi-hazard alerts: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NDMA &amp; IMD warnings for earthquake, flood, cyclone, fire and landslide via app, SMS and Cell Broadcast. 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One-tap SOS dispatch: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Live GPS shared instantly with the nearest police, ambulance, fire or NDRF unit. 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“Find My Missing”: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Photo + last-known-location registry, crowd-sourced sightings, AI facial matching and shelter check in/out.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AI-assisted safe routing: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Dynamic evacuation paths to relief camps avoid flooded, blocked or collapsed routes using live reports.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RAKSHA-NET CAMPUS MODE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– for Schools and colleges : A principal or a teacher dashboard gives alerts “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evacuate to higher floors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“ reaches every student and parent instantly. </a:t>
            </a:r>
          </a:p>
          <a:p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15999" y="1067108"/>
            <a:ext cx="914400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(Unified Alert, Rescue &amp; Reunification Platform)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587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Visionary 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E65BF5-D0FF-2E58-38E9-7F6ECC84766F}"/>
              </a:ext>
            </a:extLst>
          </p:cNvPr>
          <p:cNvSpPr/>
          <p:nvPr/>
        </p:nvSpPr>
        <p:spPr>
          <a:xfrm>
            <a:off x="6823590" y="3795253"/>
            <a:ext cx="5165210" cy="23309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INNOVATION AND UNIQUENESS</a:t>
            </a:r>
          </a:p>
          <a:p>
            <a:pPr algn="just"/>
            <a:r>
              <a:rPr lang="en-US" sz="1400" b="1" dirty="0">
                <a:latin typeface="Arial" pitchFamily="34" charset="0"/>
                <a:cs typeface="Arial" pitchFamily="34" charset="0"/>
              </a:rPr>
              <a:t> Unified: Alerts + SOS + Missing Person in one platform</a:t>
            </a:r>
          </a:p>
          <a:p>
            <a:pPr algn="just"/>
            <a:endParaRPr lang="en-US" sz="1400" b="1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AI-Assisted: Photo matching &amp; distress-message 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Offline-Ready: Bluetooth Mesh / Wi-Fi Direct during network outages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Dynamic: Real-time hazard-aware routing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Crowd-Powered: Citizen reports for faster verification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3BCFDC-617A-ED49-7F09-DF288DB9BAD7}"/>
              </a:ext>
            </a:extLst>
          </p:cNvPr>
          <p:cNvSpPr/>
          <p:nvPr/>
        </p:nvSpPr>
        <p:spPr>
          <a:xfrm>
            <a:off x="6823589" y="1700981"/>
            <a:ext cx="5165210" cy="199349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Connects Citizens, Responders &amp; Authorities on one platform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Enables faster emergency response through live GPS &amp; SOS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Speeds up missing-person identification and reunification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Provides safe, hazard-aware evacuation routes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1A70F-25E1-5098-9851-00E56E870462}"/>
              </a:ext>
            </a:extLst>
          </p:cNvPr>
          <p:cNvSpPr txBox="1"/>
          <p:nvPr/>
        </p:nvSpPr>
        <p:spPr>
          <a:xfrm>
            <a:off x="-314632" y="16616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DD107-4EBD-0657-7D2C-6EA5152C3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TECHNOLOGIES TO BE USED</a:t>
            </a:r>
          </a:p>
          <a:p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8EC1BA-5738-7555-714A-E9D0666BF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484" y="1779639"/>
            <a:ext cx="3028335" cy="4346524"/>
          </a:xfrm>
        </p:spPr>
        <p:txBody>
          <a:bodyPr/>
          <a:lstStyle/>
          <a:p>
            <a:r>
              <a:rPr lang="en-IN" sz="1800" b="1" dirty="0"/>
              <a:t>Citizen App</a:t>
            </a:r>
          </a:p>
          <a:p>
            <a:r>
              <a:rPr lang="en-IN" sz="1800" b="1" dirty="0"/>
              <a:t>Control-room Dashboard</a:t>
            </a:r>
          </a:p>
          <a:p>
            <a:r>
              <a:rPr lang="en-IN" sz="1800" b="1" dirty="0"/>
              <a:t>Backend </a:t>
            </a:r>
          </a:p>
          <a:p>
            <a:r>
              <a:rPr lang="en-IN" sz="1800" b="1" dirty="0"/>
              <a:t>Database</a:t>
            </a:r>
          </a:p>
          <a:p>
            <a:r>
              <a:rPr lang="en-IN" sz="1800" b="1" dirty="0"/>
              <a:t>Real-time Tracking</a:t>
            </a:r>
          </a:p>
          <a:p>
            <a:r>
              <a:rPr lang="en-IN" sz="1800" b="1" dirty="0"/>
              <a:t>Alerts </a:t>
            </a:r>
          </a:p>
          <a:p>
            <a:r>
              <a:rPr lang="en-IN" sz="1800" b="1" dirty="0"/>
              <a:t>Maps / Routing </a:t>
            </a:r>
          </a:p>
          <a:p>
            <a:r>
              <a:rPr lang="en-IN" sz="1800" b="1" dirty="0"/>
              <a:t>AI / ML</a:t>
            </a:r>
          </a:p>
          <a:p>
            <a:r>
              <a:rPr lang="en-IN" sz="1800" b="1" dirty="0"/>
              <a:t>Offline Layer</a:t>
            </a:r>
          </a:p>
          <a:p>
            <a:r>
              <a:rPr lang="en-IN" sz="1800" b="1" dirty="0"/>
              <a:t>Infrastructure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A92689-005C-0780-1428-D9D468B5E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21539" y="1779639"/>
            <a:ext cx="4165930" cy="434652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React Native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React.js + Node.js</a:t>
            </a:r>
          </a:p>
          <a:p>
            <a:pPr marL="0" indent="0">
              <a:buNone/>
            </a:pPr>
            <a:r>
              <a:rPr lang="en-IN" sz="1400" dirty="0"/>
              <a:t>Node.js + Express.js,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PostgreSQL + Post GIS, Redis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Socket.IO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NDMA SACHET, IMD APIs, Cell Broadcast, FCM</a:t>
            </a:r>
          </a:p>
          <a:p>
            <a:pPr marL="0" indent="0">
              <a:buNone/>
            </a:pPr>
            <a:r>
              <a:rPr lang="en-IN" sz="1400" dirty="0"/>
              <a:t>OpenStreetMap + OSRM</a:t>
            </a:r>
          </a:p>
          <a:p>
            <a:pPr marL="0" indent="0">
              <a:buNone/>
            </a:pPr>
            <a:r>
              <a:rPr lang="en-IN" sz="1400" dirty="0"/>
              <a:t>OpenCV photo matching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Bluetooth Mesh / Wi-Fi Direct relay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/>
              <a:t>AWS + Docker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06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Visionary tech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448AA6-FCB8-7F7C-800F-DADDECA5E0E3}"/>
              </a:ext>
            </a:extLst>
          </p:cNvPr>
          <p:cNvSpPr txBox="1"/>
          <p:nvPr/>
        </p:nvSpPr>
        <p:spPr>
          <a:xfrm>
            <a:off x="7199299" y="1127400"/>
            <a:ext cx="4120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METHODOLOGY / PROCESS 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F27A4-E15C-2902-06C9-4C7841AC62B7}"/>
              </a:ext>
            </a:extLst>
          </p:cNvPr>
          <p:cNvSpPr txBox="1"/>
          <p:nvPr/>
        </p:nvSpPr>
        <p:spPr>
          <a:xfrm>
            <a:off x="6823587" y="5594131"/>
            <a:ext cx="5206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All three streams converge at the NDRF / SDMA Control-Room Dashboard for real-time coordination.</a:t>
            </a:r>
            <a:endParaRPr lang="en-IN" sz="1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9E8CF6-24EB-AC8F-3FC1-6F8ED95C9569}"/>
              </a:ext>
            </a:extLst>
          </p:cNvPr>
          <p:cNvSpPr/>
          <p:nvPr/>
        </p:nvSpPr>
        <p:spPr>
          <a:xfrm>
            <a:off x="7244958" y="1740864"/>
            <a:ext cx="1017893" cy="96590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NDMA / IMD Hazard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78FE94-8150-DF2F-0664-55117A3B42F2}"/>
              </a:ext>
            </a:extLst>
          </p:cNvPr>
          <p:cNvSpPr/>
          <p:nvPr/>
        </p:nvSpPr>
        <p:spPr>
          <a:xfrm>
            <a:off x="8542276" y="1740864"/>
            <a:ext cx="1078588" cy="987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Alert Engine Processes &amp; verifies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7DF80E-D32B-0F6D-2B92-D325E683981C}"/>
              </a:ext>
            </a:extLst>
          </p:cNvPr>
          <p:cNvSpPr/>
          <p:nvPr/>
        </p:nvSpPr>
        <p:spPr>
          <a:xfrm>
            <a:off x="9889814" y="1740863"/>
            <a:ext cx="1017892" cy="99384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App / SMS / Cell Broadcast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E3F987-C05C-A347-D03F-14FC1A27115A}"/>
              </a:ext>
            </a:extLst>
          </p:cNvPr>
          <p:cNvSpPr/>
          <p:nvPr/>
        </p:nvSpPr>
        <p:spPr>
          <a:xfrm>
            <a:off x="11132573" y="1740863"/>
            <a:ext cx="935050" cy="9822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Citizen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97A50E-65C5-CB58-8D65-D6946BB5D346}"/>
              </a:ext>
            </a:extLst>
          </p:cNvPr>
          <p:cNvSpPr/>
          <p:nvPr/>
        </p:nvSpPr>
        <p:spPr>
          <a:xfrm>
            <a:off x="7677091" y="3057109"/>
            <a:ext cx="1225589" cy="75708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SOS + GPS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6B731B4-8A5B-40F2-DF87-05BE96EC9AD8}"/>
              </a:ext>
            </a:extLst>
          </p:cNvPr>
          <p:cNvSpPr/>
          <p:nvPr/>
        </p:nvSpPr>
        <p:spPr>
          <a:xfrm>
            <a:off x="9167108" y="3070568"/>
            <a:ext cx="1225589" cy="743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Nearest responder Dispatched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92559F-D1A9-E919-1144-F37D234CD727}"/>
              </a:ext>
            </a:extLst>
          </p:cNvPr>
          <p:cNvSpPr/>
          <p:nvPr/>
        </p:nvSpPr>
        <p:spPr>
          <a:xfrm>
            <a:off x="10628670" y="3079999"/>
            <a:ext cx="1225589" cy="7341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Safe Route → Shelter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4F8240-5E4E-24AE-16FA-53EE45593484}"/>
              </a:ext>
            </a:extLst>
          </p:cNvPr>
          <p:cNvSpPr/>
          <p:nvPr/>
        </p:nvSpPr>
        <p:spPr>
          <a:xfrm>
            <a:off x="7623441" y="4386813"/>
            <a:ext cx="1307695" cy="87820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Missing Person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0EE30-1C93-4E30-A579-7D561922A749}"/>
              </a:ext>
            </a:extLst>
          </p:cNvPr>
          <p:cNvSpPr/>
          <p:nvPr/>
        </p:nvSpPr>
        <p:spPr>
          <a:xfrm>
            <a:off x="9167108" y="4386813"/>
            <a:ext cx="1225589" cy="87820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AI Photo Match + Crowd Leads</a:t>
            </a:r>
            <a:endParaRPr lang="en-IN" sz="1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DF614E5-6E42-D737-8117-AC3742E01864}"/>
              </a:ext>
            </a:extLst>
          </p:cNvPr>
          <p:cNvSpPr/>
          <p:nvPr/>
        </p:nvSpPr>
        <p:spPr>
          <a:xfrm>
            <a:off x="10628669" y="4365523"/>
            <a:ext cx="1225589" cy="87820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Shelter Check-in/out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DA971CA-D485-1759-0407-A6C1FD2CE861}"/>
              </a:ext>
            </a:extLst>
          </p:cNvPr>
          <p:cNvSpPr/>
          <p:nvPr/>
        </p:nvSpPr>
        <p:spPr>
          <a:xfrm>
            <a:off x="8272291" y="2165982"/>
            <a:ext cx="312217" cy="261775"/>
          </a:xfrm>
          <a:prstGeom prst="rightArrow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DD74712-4032-541D-5FE3-E7E44C2AB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9027" y="2106503"/>
            <a:ext cx="408467" cy="3779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463C16F-244A-B6B3-688B-50C88069C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788" y="2101582"/>
            <a:ext cx="408467" cy="3779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879C8DD-5D7E-4827-FBA5-9FE451B06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938" y="3287501"/>
            <a:ext cx="408467" cy="37798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5E6279E-2760-EF1B-4000-39435AEB3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281" y="3307852"/>
            <a:ext cx="408467" cy="3779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83F98E7-0EC0-14AC-97C3-115EB896F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938" y="4667930"/>
            <a:ext cx="408467" cy="37798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C17736E-1A50-0B44-BA23-CBE86740D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609" y="4667929"/>
            <a:ext cx="408467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99027" cy="8073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Visionary 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A5B882-A343-25DA-93FE-8F04492263AE}"/>
              </a:ext>
            </a:extLst>
          </p:cNvPr>
          <p:cNvSpPr/>
          <p:nvPr/>
        </p:nvSpPr>
        <p:spPr>
          <a:xfrm>
            <a:off x="6375828" y="1219200"/>
            <a:ext cx="5654108" cy="433602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POTENTIAL CHALLENGES &amp; STRATEGIES</a:t>
            </a:r>
          </a:p>
          <a:p>
            <a:pPr algn="ctr"/>
            <a:endParaRPr lang="en-IN" sz="1600" b="1" dirty="0">
              <a:solidFill>
                <a:srgbClr val="FF0000"/>
              </a:solidFill>
            </a:endParaRPr>
          </a:p>
          <a:p>
            <a:r>
              <a:rPr lang="en-IN" sz="1600" dirty="0"/>
              <a:t>•Network outage during disasters → Offline Bluetooth/Wi-Fi mesh relay + SMS fallback</a:t>
            </a:r>
          </a:p>
          <a:p>
            <a:r>
              <a:rPr lang="en-IN" sz="1600" dirty="0"/>
              <a:t>•False alerts causing panic → Verified government feeds + admin moderation	</a:t>
            </a:r>
          </a:p>
          <a:p>
            <a:r>
              <a:rPr lang="en-IN" sz="1600" dirty="0"/>
              <a:t>•Rural/elderly adoption → Multilingual voice alerts + Panchayat/NGO onboarding	</a:t>
            </a:r>
          </a:p>
          <a:p>
            <a:r>
              <a:rPr lang="en-IN" sz="1600" dirty="0"/>
              <a:t>•Traffic spikes during disasters → Cloud auto-scaling + CDN caching</a:t>
            </a:r>
          </a:p>
          <a:p>
            <a:r>
              <a:rPr lang="en-IN" sz="1600" dirty="0"/>
              <a:t>•Privacy of missing-person data → Encryption, consent-based sharing, auto-deletion after case closure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53537E-F24E-98CF-411E-D34460B627F6}"/>
              </a:ext>
            </a:extLst>
          </p:cNvPr>
          <p:cNvSpPr/>
          <p:nvPr/>
        </p:nvSpPr>
        <p:spPr>
          <a:xfrm>
            <a:off x="162063" y="1219199"/>
            <a:ext cx="5933938" cy="37362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ANALYSIS OF THE FEASIBILITY OF THE IDEA</a:t>
            </a:r>
          </a:p>
          <a:p>
            <a:pPr algn="ctr"/>
            <a:r>
              <a:rPr lang="en-US" sz="900" b="1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r>
              <a:rPr lang="en-US" sz="1400" dirty="0"/>
              <a:t>•</a:t>
            </a:r>
            <a:r>
              <a:rPr lang="en-US" sz="1600" dirty="0"/>
              <a:t>Proven data sources — Built on NDMA SACHET, IMD, and Cell Broadcast APIs, so no need to build hazard-prediction models from scratch.	</a:t>
            </a:r>
          </a:p>
          <a:p>
            <a:r>
              <a:rPr lang="en-US" sz="1600" dirty="0"/>
              <a:t>•Phased development — Rolled out in 3 stages: Alerts → SOS Dispatch → Missing-Person Module, reducing build complexity and risk.	</a:t>
            </a:r>
          </a:p>
          <a:p>
            <a:r>
              <a:rPr lang="en-US" sz="1600" dirty="0"/>
              <a:t>•Real-world precedent — Similar systems already work at scale: Google Person Finder (missing persons) and Japan’s J-Alert (early warning), proving the concept is viable.</a:t>
            </a:r>
          </a:p>
          <a:p>
            <a:r>
              <a:rPr lang="en-US" sz="1600" dirty="0"/>
              <a:t>•Low infra cost — Reuses existing government infrastructure instead of building parallel systems, keeping deployment cost and time low.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5D5DB-66D4-EF66-0F98-68A24649414E}"/>
              </a:ext>
            </a:extLst>
          </p:cNvPr>
          <p:cNvSpPr txBox="1"/>
          <p:nvPr/>
        </p:nvSpPr>
        <p:spPr>
          <a:xfrm>
            <a:off x="973394" y="5152103"/>
            <a:ext cx="220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MODULAR ROLLOUT</a:t>
            </a:r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7A26C5-9609-AF9F-C02A-34AFA8890031}"/>
              </a:ext>
            </a:extLst>
          </p:cNvPr>
          <p:cNvSpPr/>
          <p:nvPr/>
        </p:nvSpPr>
        <p:spPr>
          <a:xfrm>
            <a:off x="452284" y="5555226"/>
            <a:ext cx="1602658" cy="5032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1.Alerts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F49736-20E0-A0F2-DE86-C8151D70B486}"/>
              </a:ext>
            </a:extLst>
          </p:cNvPr>
          <p:cNvSpPr/>
          <p:nvPr/>
        </p:nvSpPr>
        <p:spPr>
          <a:xfrm>
            <a:off x="2231923" y="5555226"/>
            <a:ext cx="1700980" cy="5032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2.SOS Dispatch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DCDD25-08A5-2751-289A-E2649A1B40AF}"/>
              </a:ext>
            </a:extLst>
          </p:cNvPr>
          <p:cNvSpPr/>
          <p:nvPr/>
        </p:nvSpPr>
        <p:spPr>
          <a:xfrm>
            <a:off x="4165600" y="5555226"/>
            <a:ext cx="1930400" cy="5032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3.Missing - Person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D5713E-D5CE-E7D1-67B9-F5C3D1B8D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948" y="1144500"/>
            <a:ext cx="10707329" cy="204115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       </a:t>
            </a: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</a:rPr>
              <a:t>POTENTIAL IMPACT ON THE TARGET AUDIENCE</a:t>
            </a:r>
            <a:endParaRPr lang="en-IN" sz="2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1811B-CA2F-CAF8-9715-C11F2D693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947" y="3672349"/>
            <a:ext cx="9950247" cy="266563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</a:rPr>
              <a:t>BENEFITS 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SOCIAL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Reduced panic; inclusive access for elderly/disabled; peace of mind for families. </a:t>
            </a:r>
          </a:p>
          <a:p>
            <a:r>
              <a:rPr lang="en-US" sz="1800" b="1" dirty="0">
                <a:solidFill>
                  <a:srgbClr val="00B050"/>
                </a:solidFill>
              </a:rPr>
              <a:t>ECONOMIC</a:t>
            </a:r>
            <a:r>
              <a:rPr lang="en-US" sz="1800" dirty="0"/>
              <a:t> Lower disaster-relief costs via efficient allocation; less property/business loss. </a:t>
            </a:r>
          </a:p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ENVIRONMENTAL</a:t>
            </a:r>
            <a:r>
              <a:rPr lang="en-US" sz="1800" dirty="0"/>
              <a:t> Better coordination limits secondary disasters — fire spread and stampedes. </a:t>
            </a:r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GOVERNANCE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10000"/>
                </a:solidFill>
              </a:rPr>
              <a:t>Structured </a:t>
            </a:r>
            <a:r>
              <a:rPr lang="en-US" sz="1800" dirty="0"/>
              <a:t>incident data supports better infrastructure and policy planning.</a:t>
            </a:r>
            <a:r>
              <a:rPr lang="en-US" sz="1800" b="1" dirty="0"/>
              <a:t>.</a:t>
            </a:r>
            <a:endParaRPr lang="en-IN" sz="1800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2217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Visionary tech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0A92F6-8E82-2B7F-B676-E20121AA9F0C}"/>
              </a:ext>
            </a:extLst>
          </p:cNvPr>
          <p:cNvSpPr/>
          <p:nvPr/>
        </p:nvSpPr>
        <p:spPr>
          <a:xfrm>
            <a:off x="147484" y="1699828"/>
            <a:ext cx="2807111" cy="172917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Citizens</a:t>
            </a:r>
          </a:p>
          <a:p>
            <a:r>
              <a:rPr lang="en-US" sz="1400" dirty="0"/>
              <a:t> Earlier, more actionable warnings — more time to move to safety.</a:t>
            </a:r>
            <a:endParaRPr lang="en-IN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1B2C66-E818-5EA7-F747-4212BFE57E35}"/>
              </a:ext>
            </a:extLst>
          </p:cNvPr>
          <p:cNvSpPr/>
          <p:nvPr/>
        </p:nvSpPr>
        <p:spPr>
          <a:xfrm>
            <a:off x="3190567" y="1699829"/>
            <a:ext cx="2807112" cy="172917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Emergency Services</a:t>
            </a:r>
          </a:p>
          <a:p>
            <a:r>
              <a:rPr lang="en-US" sz="1600" b="1" dirty="0"/>
              <a:t> </a:t>
            </a:r>
            <a:r>
              <a:rPr lang="en-US" sz="1400" dirty="0"/>
              <a:t>Faster access to people during the critical “golden hour”.</a:t>
            </a:r>
            <a:endParaRPr lang="en-IN" sz="1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7B911F-07D0-4111-2902-EA1F7F049805}"/>
              </a:ext>
            </a:extLst>
          </p:cNvPr>
          <p:cNvSpPr/>
          <p:nvPr/>
        </p:nvSpPr>
        <p:spPr>
          <a:xfrm>
            <a:off x="6194322" y="1716614"/>
            <a:ext cx="2930012" cy="17291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Families</a:t>
            </a:r>
          </a:p>
          <a:p>
            <a:r>
              <a:rPr lang="en-US" sz="1400" dirty="0"/>
              <a:t> Faster reunification of separated family members, reducing trauma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83D215-FB90-4B7A-F068-98775D919759}"/>
              </a:ext>
            </a:extLst>
          </p:cNvPr>
          <p:cNvSpPr/>
          <p:nvPr/>
        </p:nvSpPr>
        <p:spPr>
          <a:xfrm>
            <a:off x="9360310" y="1699828"/>
            <a:ext cx="2684206" cy="17291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NDMA / SDMA / NDRF</a:t>
            </a:r>
            <a:r>
              <a:rPr lang="en-US" sz="1600" dirty="0"/>
              <a:t> </a:t>
            </a:r>
          </a:p>
          <a:p>
            <a:pPr algn="ctr"/>
            <a:r>
              <a:rPr lang="en-US" sz="1400" dirty="0"/>
              <a:t>Real-time ground picture for better resource deployment.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EF199-95DF-FF0A-09DE-D55B4AEF7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9901084" cy="814797"/>
          </a:xfrm>
        </p:spPr>
        <p:txBody>
          <a:bodyPr/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A0791-ABC2-9D6A-7AA2-9027A43A4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774" y="2174875"/>
            <a:ext cx="4969811" cy="3390183"/>
          </a:xfrm>
        </p:spPr>
        <p:txBody>
          <a:bodyPr/>
          <a:lstStyle/>
          <a:p>
            <a:pPr lvl="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Disaster Management Authority (NDMA)         </a:t>
            </a:r>
          </a:p>
          <a:p>
            <a:pPr lvl="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SACHET Common Alerting Protocol                              </a:t>
            </a:r>
          </a:p>
          <a:p>
            <a:pPr lvl="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India Meteorological Department                                   </a:t>
            </a:r>
          </a:p>
          <a:p>
            <a:pPr lvl="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Google Person Finder                                                   </a:t>
            </a:r>
          </a:p>
          <a:p>
            <a:pPr lvl="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Department of Telecommunications — Cell Broadcast Alert System (CBAS)</a:t>
            </a:r>
            <a:endParaRPr lang="en-US" sz="1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buFont typeface="+mj-lt"/>
              <a:buAutoNum type="arabicPeriod"/>
              <a:defRPr/>
            </a:pPr>
            <a:endParaRPr lang="en-US" sz="1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buFont typeface="+mj-lt"/>
              <a:buAutoNum type="arabicPeriod"/>
              <a:defRPr/>
            </a:pPr>
            <a:endParaRPr lang="en-US" sz="1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E6D9E-BF1C-5D3E-7437-593CEFCF8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20697" y="2094271"/>
            <a:ext cx="6626942" cy="3470788"/>
          </a:xfrm>
        </p:spPr>
        <p:txBody>
          <a:bodyPr/>
          <a:lstStyle/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ndma.gov.in 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sachet.ndma.gov.in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mausam.imd.gov.in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Crowd-sourced missing-person case study used in past disasters worldwide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Documentation </a:t>
            </a:r>
          </a:p>
          <a:p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06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Visionary 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91A739-E0C5-B96C-6DE2-52E752E0140A}"/>
              </a:ext>
            </a:extLst>
          </p:cNvPr>
          <p:cNvSpPr txBox="1"/>
          <p:nvPr/>
        </p:nvSpPr>
        <p:spPr>
          <a:xfrm>
            <a:off x="4156962" y="5673212"/>
            <a:ext cx="486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RAKSHA-NET — Smart India Hackathon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8302</TotalTime>
  <Words>976</Words>
  <Application>Microsoft Office PowerPoint</Application>
  <PresentationFormat>Widescreen</PresentationFormat>
  <Paragraphs>143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RAKSHA-NET</vt:lpstr>
      <vt:lpstr>TECHNICAL APPROACH</vt:lpstr>
      <vt:lpstr>FEASIBILITY AND VIABILITY</vt:lpstr>
      <vt:lpstr>IMPACT AND BENEFITS</vt:lpstr>
      <vt:lpstr>RESEARCH  AND REFERENCES  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borahporag810@gmail.com</cp:lastModifiedBy>
  <cp:revision>154</cp:revision>
  <dcterms:created xsi:type="dcterms:W3CDTF">2013-12-12T18:46:50Z</dcterms:created>
  <dcterms:modified xsi:type="dcterms:W3CDTF">2026-08-31T07:49:46Z</dcterms:modified>
  <cp:category/>
</cp:coreProperties>
</file>